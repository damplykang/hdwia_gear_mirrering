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0"/>
  </p:notesMasterIdLst>
  <p:sldIdLst>
    <p:sldId id="256" r:id="rId2"/>
    <p:sldId id="284" r:id="rId3"/>
    <p:sldId id="292" r:id="rId4"/>
    <p:sldId id="293" r:id="rId5"/>
    <p:sldId id="285" r:id="rId6"/>
    <p:sldId id="286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287" r:id="rId15"/>
    <p:sldId id="289" r:id="rId16"/>
    <p:sldId id="290" r:id="rId17"/>
    <p:sldId id="291" r:id="rId18"/>
    <p:sldId id="280" r:id="rId19"/>
  </p:sldIdLst>
  <p:sldSz cx="12192000" cy="6858000"/>
  <p:notesSz cx="6858000" cy="9144000"/>
  <p:embeddedFontLst>
    <p:embeddedFont>
      <p:font typeface="Pretendard ExtraBold" panose="020B0600000101010101" charset="-127"/>
      <p:bold r:id="rId21"/>
    </p:embeddedFont>
    <p:embeddedFont>
      <p:font typeface="Pretendard Light" panose="020B0600000101010101" charset="-127"/>
      <p:regular r:id="rId22"/>
    </p:embeddedFont>
    <p:embeddedFont>
      <p:font typeface="Pretendard SemiBold" panose="020B0600000101010101" charset="-127"/>
      <p:bold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F9C2F"/>
    <a:srgbClr val="FFAF57"/>
    <a:srgbClr val="CC0000"/>
    <a:srgbClr val="909090"/>
    <a:srgbClr val="FFBB71"/>
    <a:srgbClr val="FFEE71"/>
    <a:srgbClr val="00316C"/>
    <a:srgbClr val="FFD75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5550" autoAdjust="0"/>
  </p:normalViewPr>
  <p:slideViewPr>
    <p:cSldViewPr snapToGrid="0">
      <p:cViewPr varScale="1">
        <p:scale>
          <a:sx n="109" d="100"/>
          <a:sy n="109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082BA-0479-4D7C-ADBF-B1FF24FDEE2A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EE090-03D9-44F4-8F28-636D25A1B1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22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E99C4-C2ED-322C-23BF-AB1E08500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56B4DF-E3AA-0C50-0BD9-338E53124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2C0869-CA4D-17A5-2469-662535815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3034A7B-5FC1-42E6-9498-FE623F6AC630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2066CF-8906-50EF-8366-95EFDFA96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D23A4E-60B5-582C-EA4E-721D5E9B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12FE91-3EE5-4B5C-BD83-2B25BC9C92E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C7528A-0B4B-EC91-2668-D5BF5A6E4A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5000">
                <a:srgbClr val="152243"/>
              </a:gs>
              <a:gs pos="0">
                <a:srgbClr val="203466"/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A3E4018-1862-2D04-6C55-05996782ED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56960" y="2152263"/>
            <a:ext cx="7504815" cy="487511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6E4FC10-C70C-D840-9188-12E0C14C7D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152" y="5531614"/>
            <a:ext cx="3810429" cy="91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622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952C7E7-1956-17DB-749A-26AB13F21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58" y="6452151"/>
            <a:ext cx="5187696" cy="280416"/>
          </a:xfrm>
          <a:prstGeom prst="rect">
            <a:avLst/>
          </a:prstGeom>
        </p:spPr>
      </p:pic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42296A67-5A13-628C-2E0B-AF50C8701355}"/>
              </a:ext>
            </a:extLst>
          </p:cNvPr>
          <p:cNvSpPr/>
          <p:nvPr userDrawn="1"/>
        </p:nvSpPr>
        <p:spPr>
          <a:xfrm rot="10800000">
            <a:off x="400047" y="-1"/>
            <a:ext cx="533401" cy="758411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29E8099-8A0C-FE48-A3A7-DA74E4FC55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5406" y="421513"/>
            <a:ext cx="436544" cy="28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09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447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9287FD13-0BB9-EB1F-5B35-1BE0AFE25313}"/>
              </a:ext>
            </a:extLst>
          </p:cNvPr>
          <p:cNvSpPr txBox="1"/>
          <p:nvPr/>
        </p:nvSpPr>
        <p:spPr>
          <a:xfrm>
            <a:off x="609023" y="6181207"/>
            <a:ext cx="833883" cy="302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chemeClr val="bg1">
                    <a:lumMod val="75000"/>
                    <a:alpha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Jan.2026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8C9BB-9115-A30F-CA7F-3F24C7F455BB}"/>
              </a:ext>
            </a:extLst>
          </p:cNvPr>
          <p:cNvSpPr txBox="1"/>
          <p:nvPr/>
        </p:nvSpPr>
        <p:spPr>
          <a:xfrm>
            <a:off x="609023" y="676793"/>
            <a:ext cx="7826181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㈜</a:t>
            </a:r>
            <a:r>
              <a:rPr lang="ko-KR" altLang="en-US" sz="40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현대위아</a:t>
            </a:r>
            <a:endParaRPr lang="en-US" altLang="ko-KR" sz="4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r>
              <a:rPr lang="ko-KR" altLang="en-US" sz="5400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통계 프로그램 항목 수정사항</a:t>
            </a:r>
            <a:endParaRPr lang="en-US" altLang="ko-KR" sz="5400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2877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B86DB-1C95-42C8-3EAF-FCC0F96C0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CBD96296-6E11-7EB3-4869-FBDA4484CB08}"/>
              </a:ext>
            </a:extLst>
          </p:cNvPr>
          <p:cNvSpPr txBox="1"/>
          <p:nvPr/>
        </p:nvSpPr>
        <p:spPr>
          <a:xfrm>
            <a:off x="924395" y="358301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14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3AE422-64C2-419C-DCAC-4C9402071B0B}"/>
              </a:ext>
            </a:extLst>
          </p:cNvPr>
          <p:cNvSpPr txBox="1"/>
          <p:nvPr/>
        </p:nvSpPr>
        <p:spPr>
          <a:xfrm>
            <a:off x="432045" y="358301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5654B5-FC26-4496-AF60-C6EA5C1A046A}"/>
              </a:ext>
            </a:extLst>
          </p:cNvPr>
          <p:cNvSpPr txBox="1"/>
          <p:nvPr/>
        </p:nvSpPr>
        <p:spPr>
          <a:xfrm>
            <a:off x="432045" y="758411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ㆍ명칭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변경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측정화면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통계 화면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Width -&gt;Length</a:t>
            </a:r>
            <a:r>
              <a:rPr lang="ko-KR" altLang="en-US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2715C6-1A14-ACF4-99A5-8E8A4E0E6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85" y="1527853"/>
            <a:ext cx="8330797" cy="468607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D43D464-B41F-9EE6-C9C8-84F92830BF83}"/>
              </a:ext>
            </a:extLst>
          </p:cNvPr>
          <p:cNvSpPr/>
          <p:nvPr/>
        </p:nvSpPr>
        <p:spPr>
          <a:xfrm>
            <a:off x="1591408" y="3147645"/>
            <a:ext cx="342900" cy="9131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F8BD16-C437-6D6A-8BC4-1A7B556A8AF6}"/>
              </a:ext>
            </a:extLst>
          </p:cNvPr>
          <p:cNvSpPr/>
          <p:nvPr/>
        </p:nvSpPr>
        <p:spPr>
          <a:xfrm>
            <a:off x="5160395" y="3176219"/>
            <a:ext cx="342900" cy="9131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32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BCFCD-2367-FD2F-5671-9A66750DE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CDCB9BD6-6C1E-299E-ECC2-17AAC1B2C8EC}"/>
              </a:ext>
            </a:extLst>
          </p:cNvPr>
          <p:cNvSpPr txBox="1"/>
          <p:nvPr/>
        </p:nvSpPr>
        <p:spPr>
          <a:xfrm>
            <a:off x="924395" y="358301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14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B451B9-46E1-704E-D701-D3371A46F66C}"/>
              </a:ext>
            </a:extLst>
          </p:cNvPr>
          <p:cNvSpPr txBox="1"/>
          <p:nvPr/>
        </p:nvSpPr>
        <p:spPr>
          <a:xfrm>
            <a:off x="432045" y="358301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45C796-CDE5-6D78-23AD-D25899701133}"/>
              </a:ext>
            </a:extLst>
          </p:cNvPr>
          <p:cNvSpPr txBox="1"/>
          <p:nvPr/>
        </p:nvSpPr>
        <p:spPr>
          <a:xfrm>
            <a:off x="432045" y="758411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ㆍ명칭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변경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측정화면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통계 화면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Width -&gt;Length</a:t>
            </a:r>
            <a:r>
              <a:rPr lang="ko-KR" altLang="en-US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4C55D9-D85F-6D53-631D-6B99AA4C2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09" y="1361830"/>
            <a:ext cx="9307391" cy="523540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520076F-F4F6-CB25-B493-67EEADC6D629}"/>
              </a:ext>
            </a:extLst>
          </p:cNvPr>
          <p:cNvSpPr/>
          <p:nvPr/>
        </p:nvSpPr>
        <p:spPr>
          <a:xfrm>
            <a:off x="4958172" y="5391880"/>
            <a:ext cx="1038182" cy="9131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76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C8028-4F10-7904-BD2B-F28BEA11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DCB35D6-4061-F761-3F8F-FBD23CBF8FC2}"/>
              </a:ext>
            </a:extLst>
          </p:cNvPr>
          <p:cNvSpPr txBox="1"/>
          <p:nvPr/>
        </p:nvSpPr>
        <p:spPr>
          <a:xfrm>
            <a:off x="924395" y="358301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14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941AA1-3AC9-DC2A-C6FE-18CB018F8D33}"/>
              </a:ext>
            </a:extLst>
          </p:cNvPr>
          <p:cNvSpPr txBox="1"/>
          <p:nvPr/>
        </p:nvSpPr>
        <p:spPr>
          <a:xfrm>
            <a:off x="432045" y="358301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6FE1B8-F349-CC81-5A97-69B6435F46F3}"/>
              </a:ext>
            </a:extLst>
          </p:cNvPr>
          <p:cNvSpPr txBox="1"/>
          <p:nvPr/>
        </p:nvSpPr>
        <p:spPr>
          <a:xfrm>
            <a:off x="432045" y="758411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ㆍ명칭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변경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측정화면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통계 화면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Width -&gt;Length</a:t>
            </a:r>
            <a:r>
              <a:rPr lang="ko-KR" altLang="en-US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8F5439-15C9-8599-B419-E894D1898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95" y="1250706"/>
            <a:ext cx="9107854" cy="512583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5148975-841C-0E61-0736-2BA4D1963601}"/>
              </a:ext>
            </a:extLst>
          </p:cNvPr>
          <p:cNvSpPr/>
          <p:nvPr/>
        </p:nvSpPr>
        <p:spPr>
          <a:xfrm>
            <a:off x="3910422" y="2900446"/>
            <a:ext cx="490128" cy="12810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C02111-2C4C-3F50-6717-3219BA84A76E}"/>
              </a:ext>
            </a:extLst>
          </p:cNvPr>
          <p:cNvSpPr/>
          <p:nvPr/>
        </p:nvSpPr>
        <p:spPr>
          <a:xfrm>
            <a:off x="7141513" y="2900446"/>
            <a:ext cx="490128" cy="12810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017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064D6-18BC-EE19-D00C-DC5C04E0A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BA79987C-7E49-FF95-BD43-CFBA9F8D3B50}"/>
              </a:ext>
            </a:extLst>
          </p:cNvPr>
          <p:cNvSpPr txBox="1"/>
          <p:nvPr/>
        </p:nvSpPr>
        <p:spPr>
          <a:xfrm>
            <a:off x="924395" y="358301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15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7F8597-B289-C37B-334F-5AE49CE42C50}"/>
              </a:ext>
            </a:extLst>
          </p:cNvPr>
          <p:cNvSpPr txBox="1"/>
          <p:nvPr/>
        </p:nvSpPr>
        <p:spPr>
          <a:xfrm>
            <a:off x="432045" y="358301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CC8984-6016-415B-1E4D-41DD77963E0D}"/>
              </a:ext>
            </a:extLst>
          </p:cNvPr>
          <p:cNvSpPr txBox="1"/>
          <p:nvPr/>
        </p:nvSpPr>
        <p:spPr>
          <a:xfrm>
            <a:off x="432045" y="758411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ㆍ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기준 반영 변경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통계분석 설명 자료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(6/2) </a:t>
            </a:r>
            <a:b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ㆍ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이상치 판단 기준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(6/8 )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반영 변경</a:t>
            </a:r>
            <a:r>
              <a:rPr lang="ko-KR" altLang="en-US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C642D2-FDC4-4F6C-70D1-F363F4D59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84" y="1490527"/>
            <a:ext cx="9186741" cy="516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091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00F2-E6DC-68BF-44A1-E733E29A4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448F9BA7-36CD-EADD-1CC4-F8AF3685E7BA}"/>
              </a:ext>
            </a:extLst>
          </p:cNvPr>
          <p:cNvSpPr txBox="1"/>
          <p:nvPr/>
        </p:nvSpPr>
        <p:spPr>
          <a:xfrm>
            <a:off x="924395" y="358301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17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76C0D0-7AF5-1716-7EB4-0A38DD379F6C}"/>
              </a:ext>
            </a:extLst>
          </p:cNvPr>
          <p:cNvSpPr txBox="1"/>
          <p:nvPr/>
        </p:nvSpPr>
        <p:spPr>
          <a:xfrm>
            <a:off x="432045" y="358301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FCEB6-15F4-AA01-C59F-9AE4CB47EC10}"/>
              </a:ext>
            </a:extLst>
          </p:cNvPr>
          <p:cNvSpPr txBox="1"/>
          <p:nvPr/>
        </p:nvSpPr>
        <p:spPr>
          <a:xfrm>
            <a:off x="432045" y="758411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ㆍ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기준 반영 변경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통계분석 설명 자료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(6/10)</a:t>
            </a:r>
            <a:r>
              <a:rPr lang="ko-KR" altLang="en-US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4D0AA2-C611-594C-63D2-C1E6A0D833A2}"/>
              </a:ext>
            </a:extLst>
          </p:cNvPr>
          <p:cNvSpPr txBox="1"/>
          <p:nvPr/>
        </p:nvSpPr>
        <p:spPr>
          <a:xfrm>
            <a:off x="432045" y="1127743"/>
            <a:ext cx="66721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ㆍ복수통계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데이터 그래프 화면 수정</a:t>
            </a:r>
            <a:b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① 한글 표현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" 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복수통계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가속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점수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 → 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상세 자료 참조</a:t>
            </a:r>
            <a:b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②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축 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정수 표현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Y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축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소수점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째자리까지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표현</a:t>
            </a:r>
            <a:b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③ 등급 통계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X&amp;Y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축 모두 정수로 표현</a:t>
            </a:r>
            <a:r>
              <a:rPr lang="ko-KR" altLang="en-US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5594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AEA31-8B64-82EF-0C29-F672C5DE6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9D8491AD-1948-944C-E3FC-8C7F052C8E89}"/>
              </a:ext>
            </a:extLst>
          </p:cNvPr>
          <p:cNvSpPr txBox="1"/>
          <p:nvPr/>
        </p:nvSpPr>
        <p:spPr>
          <a:xfrm>
            <a:off x="924395" y="358301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17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16B658-EDD2-E18D-A51E-EB3C11AC401C}"/>
              </a:ext>
            </a:extLst>
          </p:cNvPr>
          <p:cNvSpPr txBox="1"/>
          <p:nvPr/>
        </p:nvSpPr>
        <p:spPr>
          <a:xfrm>
            <a:off x="432045" y="358301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703BD6-7683-C0BF-6605-53406658B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45" y="758411"/>
            <a:ext cx="10843714" cy="609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05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3B9ED-2695-B394-3B47-AE9C78C36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BD7F0C0-FDB9-5DB1-67E5-5B9DD4442E6F}"/>
              </a:ext>
            </a:extLst>
          </p:cNvPr>
          <p:cNvSpPr txBox="1"/>
          <p:nvPr/>
        </p:nvSpPr>
        <p:spPr>
          <a:xfrm>
            <a:off x="924395" y="358301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17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186F6-2D18-C1FD-9222-EE3F105E6A13}"/>
              </a:ext>
            </a:extLst>
          </p:cNvPr>
          <p:cNvSpPr txBox="1"/>
          <p:nvPr/>
        </p:nvSpPr>
        <p:spPr>
          <a:xfrm>
            <a:off x="432045" y="358301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BD99B6-D9D4-E27C-1DA1-F2E59BCCD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45" y="758411"/>
            <a:ext cx="10835560" cy="609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44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BF289-0A5E-CB97-8062-FCAE339CF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4565FA0-467E-C6B3-404A-3436EC4F4CA6}"/>
              </a:ext>
            </a:extLst>
          </p:cNvPr>
          <p:cNvSpPr txBox="1"/>
          <p:nvPr/>
        </p:nvSpPr>
        <p:spPr>
          <a:xfrm>
            <a:off x="924395" y="358301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17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C132D3-F4F9-F669-65C3-71317DF4E421}"/>
              </a:ext>
            </a:extLst>
          </p:cNvPr>
          <p:cNvSpPr txBox="1"/>
          <p:nvPr/>
        </p:nvSpPr>
        <p:spPr>
          <a:xfrm>
            <a:off x="432045" y="358301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8356CF-A8CA-2ABE-ED5D-6CF214D89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45" y="758411"/>
            <a:ext cx="10835560" cy="609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1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E123F-554E-2D15-A58A-012A43AAC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1C3307A5-906C-8A83-D04C-EF0E51659043}"/>
              </a:ext>
            </a:extLst>
          </p:cNvPr>
          <p:cNvSpPr txBox="1"/>
          <p:nvPr/>
        </p:nvSpPr>
        <p:spPr>
          <a:xfrm>
            <a:off x="924395" y="358301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17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B2F19C-5168-6E90-4923-906495438F45}"/>
              </a:ext>
            </a:extLst>
          </p:cNvPr>
          <p:cNvSpPr txBox="1"/>
          <p:nvPr/>
        </p:nvSpPr>
        <p:spPr>
          <a:xfrm>
            <a:off x="432045" y="358301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B6A9B7-3BF3-63B0-83E7-D23FA3490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45" y="758411"/>
            <a:ext cx="10838066" cy="609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290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04F06-FCF9-14FD-50D1-65D949AB9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6BBF903-BFA1-4873-7B6F-E9A2111407AC}"/>
              </a:ext>
            </a:extLst>
          </p:cNvPr>
          <p:cNvSpPr txBox="1"/>
          <p:nvPr/>
        </p:nvSpPr>
        <p:spPr>
          <a:xfrm>
            <a:off x="924395" y="358301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17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D5CD45-F4BD-BF9C-0066-9910FF9B9ACE}"/>
              </a:ext>
            </a:extLst>
          </p:cNvPr>
          <p:cNvSpPr txBox="1"/>
          <p:nvPr/>
        </p:nvSpPr>
        <p:spPr>
          <a:xfrm>
            <a:off x="432045" y="358301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018831-6935-4540-FA35-B9D46C987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45" y="758411"/>
            <a:ext cx="10693155" cy="601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683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0C66A-978F-4DB4-4CA4-BE1C03D86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6A4E116C-C65D-EB52-2377-7451E0989C2B}"/>
              </a:ext>
            </a:extLst>
          </p:cNvPr>
          <p:cNvSpPr txBox="1"/>
          <p:nvPr/>
        </p:nvSpPr>
        <p:spPr>
          <a:xfrm>
            <a:off x="924395" y="358301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17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BB219-BB4E-5FE3-0B59-D23D8BBF3607}"/>
              </a:ext>
            </a:extLst>
          </p:cNvPr>
          <p:cNvSpPr txBox="1"/>
          <p:nvPr/>
        </p:nvSpPr>
        <p:spPr>
          <a:xfrm>
            <a:off x="432045" y="358301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903EBD-00B8-2593-E2C0-4713EAAF0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45" y="758411"/>
            <a:ext cx="10835560" cy="609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617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35F88-932D-0D6B-8546-DF3681EF3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F88CD6A4-1953-A18E-9C0D-B6EC3D6C23CA}"/>
              </a:ext>
            </a:extLst>
          </p:cNvPr>
          <p:cNvSpPr txBox="1"/>
          <p:nvPr/>
        </p:nvSpPr>
        <p:spPr>
          <a:xfrm>
            <a:off x="924395" y="358301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17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1A5066-8960-308E-5B2D-11CFCA97D147}"/>
              </a:ext>
            </a:extLst>
          </p:cNvPr>
          <p:cNvSpPr txBox="1"/>
          <p:nvPr/>
        </p:nvSpPr>
        <p:spPr>
          <a:xfrm>
            <a:off x="432045" y="358301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AA52FC-7C77-CE6B-AE4B-1218E5929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45" y="758411"/>
            <a:ext cx="10835560" cy="609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53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C0AC8-85A2-0105-C4A0-9E5093C0C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1977913A-B6B6-33C4-F18C-592E40D82A96}"/>
              </a:ext>
            </a:extLst>
          </p:cNvPr>
          <p:cNvSpPr txBox="1"/>
          <p:nvPr/>
        </p:nvSpPr>
        <p:spPr>
          <a:xfrm>
            <a:off x="924395" y="358301"/>
            <a:ext cx="118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19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249CD4-5650-9A04-A5D3-A6320227F255}"/>
              </a:ext>
            </a:extLst>
          </p:cNvPr>
          <p:cNvSpPr txBox="1"/>
          <p:nvPr/>
        </p:nvSpPr>
        <p:spPr>
          <a:xfrm>
            <a:off x="432045" y="358301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04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74E5F-4F80-0215-EE33-5CEA958A17D2}"/>
              </a:ext>
            </a:extLst>
          </p:cNvPr>
          <p:cNvSpPr txBox="1"/>
          <p:nvPr/>
        </p:nvSpPr>
        <p:spPr>
          <a:xfrm>
            <a:off x="432045" y="824190"/>
            <a:ext cx="7044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ㆍ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측면 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패스워드 </a:t>
            </a:r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락화면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설정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사용자 </a:t>
            </a:r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로그인할때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입력한 비번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BD49F2-8E97-7479-471B-C33E3C5C0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842" y="2540001"/>
            <a:ext cx="5689600" cy="32915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958F91E-DC93-E6CA-88C5-FE04A6281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2540000"/>
            <a:ext cx="5848595" cy="329154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19AFF52-15B5-8F0F-7202-BA43A1874036}"/>
              </a:ext>
            </a:extLst>
          </p:cNvPr>
          <p:cNvSpPr/>
          <p:nvPr/>
        </p:nvSpPr>
        <p:spPr>
          <a:xfrm>
            <a:off x="198558" y="5417820"/>
            <a:ext cx="700602" cy="1885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374F795A-D411-B31A-1F0F-6556883A698D}"/>
              </a:ext>
            </a:extLst>
          </p:cNvPr>
          <p:cNvSpPr/>
          <p:nvPr/>
        </p:nvSpPr>
        <p:spPr>
          <a:xfrm>
            <a:off x="5902961" y="3634740"/>
            <a:ext cx="998220" cy="1417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051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CF606-E6E2-CA42-107B-E3AE2DA62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F4C9DB55-8D2E-C728-CB58-CBCF06F0C7D8}"/>
              </a:ext>
            </a:extLst>
          </p:cNvPr>
          <p:cNvSpPr txBox="1"/>
          <p:nvPr/>
        </p:nvSpPr>
        <p:spPr>
          <a:xfrm>
            <a:off x="924395" y="358301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22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6CDABB-0B2B-CEE2-7BF1-4BF01E044539}"/>
              </a:ext>
            </a:extLst>
          </p:cNvPr>
          <p:cNvSpPr txBox="1"/>
          <p:nvPr/>
        </p:nvSpPr>
        <p:spPr>
          <a:xfrm>
            <a:off x="432045" y="358301"/>
            <a:ext cx="5068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05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97423C-2974-90AB-5E93-8AAC35D520CC}"/>
              </a:ext>
            </a:extLst>
          </p:cNvPr>
          <p:cNvSpPr txBox="1"/>
          <p:nvPr/>
        </p:nvSpPr>
        <p:spPr>
          <a:xfrm>
            <a:off x="432045" y="758411"/>
            <a:ext cx="9254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ㆍ단일통계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분석 화면에서 측정값이 모두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"0"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 되는 이유 </a:t>
            </a:r>
            <a:endParaRPr lang="en-US" altLang="ko-KR" sz="1800" b="0" i="0" u="none" strike="noStrike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=&gt; </a:t>
            </a:r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키엔스에서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측정값이 인식 못하는 경우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(23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번 항목에서 </a:t>
            </a:r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예외체러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실시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0549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EC1A4-55B1-07BC-41CB-EEC69B295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2FA243FB-5697-84D7-D8CF-0E5D7B1938C5}"/>
              </a:ext>
            </a:extLst>
          </p:cNvPr>
          <p:cNvSpPr txBox="1"/>
          <p:nvPr/>
        </p:nvSpPr>
        <p:spPr>
          <a:xfrm>
            <a:off x="924395" y="358301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23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C8F41F-E7D2-A649-373D-E7E111A2859B}"/>
              </a:ext>
            </a:extLst>
          </p:cNvPr>
          <p:cNvSpPr txBox="1"/>
          <p:nvPr/>
        </p:nvSpPr>
        <p:spPr>
          <a:xfrm>
            <a:off x="432045" y="358301"/>
            <a:ext cx="510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06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2E918-0180-A7AD-1F1E-48F98DEAC36B}"/>
              </a:ext>
            </a:extLst>
          </p:cNvPr>
          <p:cNvSpPr txBox="1"/>
          <p:nvPr/>
        </p:nvSpPr>
        <p:spPr>
          <a:xfrm>
            <a:off x="432045" y="758411"/>
            <a:ext cx="8521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0" i="0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ㆍ단일</a:t>
            </a:r>
            <a:r>
              <a:rPr lang="ko-KR" altLang="en-US" sz="1800" b="0" i="0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통계 분석 화면에서 측정값이 모두 </a:t>
            </a:r>
            <a:r>
              <a:rPr lang="en-US" altLang="ko-KR" sz="1800" b="0" i="0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"0"</a:t>
            </a:r>
            <a:r>
              <a:rPr lang="ko-KR" altLang="en-US" sz="1800" b="0" i="0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 될 때 등급이 표시되는 이유 </a:t>
            </a:r>
            <a:r>
              <a:rPr lang="en-US" altLang="ko-KR" sz="1800" b="0" i="0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=&gt;-1</a:t>
            </a:r>
            <a:r>
              <a:rPr lang="ko-KR" altLang="en-US" sz="1800" b="0" i="0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띄워서 에러 표시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C9322B-4841-6AD7-1CD3-D8F117EE9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045" y="1404742"/>
            <a:ext cx="9521580" cy="535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804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4B9A4-9CEC-9709-4D46-8B4D177FB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49EAD3CA-C7DE-3237-0424-0B0C55C0EE0B}"/>
              </a:ext>
            </a:extLst>
          </p:cNvPr>
          <p:cNvSpPr txBox="1"/>
          <p:nvPr/>
        </p:nvSpPr>
        <p:spPr>
          <a:xfrm>
            <a:off x="924395" y="358301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남은 항목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87ADB2-CEA2-1C84-1269-5E06F5E359B2}"/>
              </a:ext>
            </a:extLst>
          </p:cNvPr>
          <p:cNvSpPr txBox="1"/>
          <p:nvPr/>
        </p:nvSpPr>
        <p:spPr>
          <a:xfrm>
            <a:off x="432045" y="358301"/>
            <a:ext cx="4940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07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087AFD-E7F9-98E3-883C-24E8A3ADE8EC}"/>
              </a:ext>
            </a:extLst>
          </p:cNvPr>
          <p:cNvSpPr txBox="1"/>
          <p:nvPr/>
        </p:nvSpPr>
        <p:spPr>
          <a:xfrm>
            <a:off x="432045" y="758411"/>
            <a:ext cx="85219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- 3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탁본 이미지와 실제 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평활화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이미지 비교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- 10~11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기어 레시피에 맞춰 감속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가속데이터 일치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- 21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통계분석 데이터 엑셀 형식 다운로드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292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151FA-AF45-4833-4796-97A332FB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2DD8F57-6D67-25AE-4E6C-08AE2DBAFC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22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6AE51E6-5900-58F3-0BE7-19BE6C7FA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76425" y="2586182"/>
            <a:ext cx="4439150" cy="10671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4EBF33-5936-04C9-8DDD-71A238E375A9}"/>
              </a:ext>
            </a:extLst>
          </p:cNvPr>
          <p:cNvSpPr txBox="1"/>
          <p:nvPr/>
        </p:nvSpPr>
        <p:spPr>
          <a:xfrm>
            <a:off x="337735" y="6261615"/>
            <a:ext cx="6288901" cy="308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ko-KR" altLang="en-US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경기도 안양시 동안구 </a:t>
            </a:r>
            <a:r>
              <a:rPr lang="ko-KR" altLang="en-US" sz="1400" dirty="0" err="1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엘에스로</a:t>
            </a:r>
            <a:r>
              <a:rPr lang="ko-KR" altLang="en-US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116</a:t>
            </a:r>
            <a:r>
              <a:rPr lang="ko-KR" altLang="en-US" sz="1400" dirty="0" err="1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번길</a:t>
            </a:r>
            <a:r>
              <a:rPr lang="ko-KR" altLang="en-US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25-32 </a:t>
            </a:r>
            <a:r>
              <a:rPr lang="ko-KR" altLang="en-US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안양 </a:t>
            </a:r>
            <a:r>
              <a:rPr lang="en-US" altLang="ko-KR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SKV1</a:t>
            </a:r>
            <a:r>
              <a:rPr lang="ko-KR" altLang="en-US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센터 </a:t>
            </a:r>
            <a:r>
              <a:rPr lang="en-US" altLang="ko-KR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9</a:t>
            </a:r>
            <a:r>
              <a:rPr lang="ko-KR" altLang="en-US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층 </a:t>
            </a:r>
            <a:r>
              <a:rPr lang="en-US" altLang="ko-KR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926</a:t>
            </a:r>
            <a:r>
              <a:rPr lang="ko-KR" altLang="en-US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호 </a:t>
            </a:r>
            <a:r>
              <a:rPr lang="en-US" altLang="ko-KR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 (</a:t>
            </a:r>
            <a:r>
              <a:rPr lang="ko-KR" altLang="en-US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우</a:t>
            </a:r>
            <a:r>
              <a:rPr lang="en-US" altLang="ko-KR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)14118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BDB4F9-071F-AAC2-8BD5-2E4A82E498AB}"/>
              </a:ext>
            </a:extLst>
          </p:cNvPr>
          <p:cNvSpPr txBox="1"/>
          <p:nvPr/>
        </p:nvSpPr>
        <p:spPr>
          <a:xfrm>
            <a:off x="337735" y="6014624"/>
            <a:ext cx="5873724" cy="308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Office. 031-990-6540 l Fax. 031-935-0040</a:t>
            </a:r>
            <a:r>
              <a:rPr lang="ko-KR" altLang="en-US" sz="1400" dirty="0" err="1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ㅣ</a:t>
            </a:r>
            <a:r>
              <a:rPr lang="en-US" altLang="ko-KR" sz="1400" dirty="0">
                <a:solidFill>
                  <a:schemeClr val="bg1">
                    <a:alpha val="7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E-mail. Sales@rvtech.co.kr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8C51D0-8327-E4B2-0A47-48135C897249}"/>
              </a:ext>
            </a:extLst>
          </p:cNvPr>
          <p:cNvSpPr txBox="1"/>
          <p:nvPr/>
        </p:nvSpPr>
        <p:spPr>
          <a:xfrm>
            <a:off x="337735" y="5605461"/>
            <a:ext cx="13708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㈜</a:t>
            </a:r>
            <a:r>
              <a:rPr lang="ko-KR" altLang="en-US" sz="20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알브이텍</a:t>
            </a:r>
            <a:endParaRPr lang="ko-KR" altLang="en-US" sz="20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1250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SemiBold"/>
        <a:ea typeface="Pretendard SemiBold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3271</TotalTime>
  <Words>317</Words>
  <Application>Microsoft Office PowerPoint</Application>
  <PresentationFormat>와이드스크린</PresentationFormat>
  <Paragraphs>53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Pretendard Light</vt:lpstr>
      <vt:lpstr>맑은 고딕</vt:lpstr>
      <vt:lpstr>Pretendard ExtraBold</vt:lpstr>
      <vt:lpstr>Pretendard SemiBold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강태원</cp:lastModifiedBy>
  <cp:revision>118</cp:revision>
  <dcterms:created xsi:type="dcterms:W3CDTF">2025-11-24T00:20:13Z</dcterms:created>
  <dcterms:modified xsi:type="dcterms:W3CDTF">2026-06-15T05:34:44Z</dcterms:modified>
</cp:coreProperties>
</file>